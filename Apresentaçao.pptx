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3" r:id="rId5"/>
    <p:sldId id="259" r:id="rId6"/>
    <p:sldId id="260" r:id="rId7"/>
    <p:sldId id="261" r:id="rId8"/>
    <p:sldId id="262" r:id="rId9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714" y="15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77491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Apresentação do projeto Vortex — Sistema de Gestão Comercial. Projeto final desenvolvido por Nickolas Passos Homem de Mello.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objetivo do sistema: gestão completa de uma empresa comercial, do cadastro às vendas, com relatórios analíticos apoiados por 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Arquitetura em 5 camadas no backend .NET 9. SQL Server com EF Core, frontend React 19, autenticação JWT e IA via GitHub Models (GPT-4.1).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Arquitetura em 5 camadas no backend .NET 9. SQL Server com EF Core, frontend React 19, autenticação JWT e IA via GitHub Models (GPT-4.1).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8951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Principais funcionalidades: CRUD completo das entidades, listagem paginada com filtros, controle de estoque, registro de vendas, relatórios SQL e análise com 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Objetos SQL implementados — views, stored procedure e function — consumidos pela IA, que gera insights e recomendações em linguagem natural a partir de dados reais.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Resultados alcançados: sistema completo e funcional, API RESTful documentada, frontend com identidade própria, integração real com IA e arquitetura limpa em camadas.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Roadmap: exportação de relatórios em PDF, dashboard com gráficos, notificações de estoque crítico, auditoria de alterações e deploy em nuvem.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8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-3429000"/>
            <a:ext cx="9334500" cy="9334500"/>
          </a:xfrm>
          <a:prstGeom prst="rect">
            <a:avLst/>
          </a:prstGeom>
          <a:gradFill rotWithShape="1">
            <a:gsLst>
              <a:gs pos="0">
                <a:srgbClr val="8F63E9">
                  <a:alpha val="34000"/>
                </a:srgbClr>
              </a:gs>
              <a:gs pos="66000">
                <a:srgbClr val="8F63E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-1905000" y="5905500"/>
            <a:ext cx="7239000" cy="7239000"/>
          </a:xfrm>
          <a:prstGeom prst="rect">
            <a:avLst/>
          </a:prstGeom>
          <a:gradFill rotWithShape="1">
            <a:gsLst>
              <a:gs pos="0">
                <a:srgbClr val="D67BD0">
                  <a:alpha val="16000"/>
                </a:srgbClr>
              </a:gs>
              <a:gs pos="68000">
                <a:srgbClr val="D67BD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5" name="Text 3"/>
          <p:cNvSpPr/>
          <p:nvPr/>
        </p:nvSpPr>
        <p:spPr>
          <a:xfrm>
            <a:off x="16565881" y="914400"/>
            <a:ext cx="8077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6E6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90600" y="3217783"/>
            <a:ext cx="17937480" cy="22112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8600" b="1" kern="0" spc="-744" dirty="0">
                <a:solidFill>
                  <a:srgbClr val="EC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</a:t>
            </a:r>
            <a:endParaRPr lang="en-US" sz="18600" dirty="0"/>
          </a:p>
        </p:txBody>
      </p:sp>
      <p:sp>
        <p:nvSpPr>
          <p:cNvPr id="7" name="Shape 5"/>
          <p:cNvSpPr/>
          <p:nvPr/>
        </p:nvSpPr>
        <p:spPr>
          <a:xfrm>
            <a:off x="990600" y="5790962"/>
            <a:ext cx="6477000" cy="9525"/>
          </a:xfrm>
          <a:prstGeom prst="rect">
            <a:avLst/>
          </a:prstGeom>
          <a:solidFill>
            <a:srgbClr val="A98BFF">
              <a:alpha val="3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90600" y="6124337"/>
            <a:ext cx="1793748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kern="0" spc="432" dirty="0">
                <a:solidFill>
                  <a:srgbClr val="B9B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SISTEMA DE GESTÃO VENDAS E ESTOQUE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990600" y="8580120"/>
            <a:ext cx="584644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6E6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90600" y="8999220"/>
            <a:ext cx="5846445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kern="0" spc="45" dirty="0">
                <a:solidFill>
                  <a:srgbClr val="EC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Nickolas Passos Homem de Mello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6017240" y="9067800"/>
            <a:ext cx="140817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07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8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573000" y="5715000"/>
            <a:ext cx="7810500" cy="7810500"/>
          </a:xfrm>
          <a:prstGeom prst="rect">
            <a:avLst/>
          </a:prstGeom>
          <a:gradFill rotWithShape="1">
            <a:gsLst>
              <a:gs pos="0">
                <a:srgbClr val="8F63E9">
                  <a:alpha val="16000"/>
                </a:srgbClr>
              </a:gs>
              <a:gs pos="68000">
                <a:srgbClr val="8F63E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90600" y="838200"/>
            <a:ext cx="117348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6E6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VORTEX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600200"/>
            <a:ext cx="1793748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000" b="1" kern="0" spc="-60" dirty="0">
                <a:solidFill>
                  <a:srgbClr val="EC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990600" y="4739283"/>
            <a:ext cx="13538835" cy="1208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3600" kern="0" spc="-36" dirty="0">
                <a:solidFill>
                  <a:srgbClr val="EC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web completo para a gestão de uma empresa comercial, desenvolvido como </a:t>
            </a:r>
            <a:r>
              <a:rPr lang="en-US" sz="3600" kern="0" spc="-36" dirty="0">
                <a:solidFill>
                  <a:srgbClr val="A98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 final</a:t>
            </a:r>
            <a:r>
              <a:rPr lang="en-US" sz="3600" kern="0" spc="-36" dirty="0">
                <a:solidFill>
                  <a:srgbClr val="EC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90600" y="6271617"/>
            <a:ext cx="13538835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A79F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Permite cadastrar </a:t>
            </a:r>
            <a:r>
              <a:rPr lang="en-US" sz="2400" dirty="0">
                <a:solidFill>
                  <a:srgbClr val="D9D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clientes, produtos e usuários </a:t>
            </a:r>
            <a:r>
              <a:rPr lang="en-US" sz="2400" dirty="0">
                <a:solidFill>
                  <a:srgbClr val="A79F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registrar vendas com </a:t>
            </a:r>
            <a:r>
              <a:rPr lang="en-US" sz="2400" dirty="0">
                <a:solidFill>
                  <a:srgbClr val="D9D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controle de estoque </a:t>
            </a:r>
            <a:r>
              <a:rPr lang="en-US" sz="2400" dirty="0">
                <a:solidFill>
                  <a:srgbClr val="A79F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além de gerar relatórios analíticos com suporte de </a:t>
            </a:r>
            <a:r>
              <a:rPr lang="en-US" sz="2400" dirty="0">
                <a:solidFill>
                  <a:srgbClr val="A98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Inteligência Artificial</a:t>
            </a:r>
            <a:r>
              <a:rPr lang="en-US" sz="2400" dirty="0">
                <a:solidFill>
                  <a:srgbClr val="A79F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8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95500" y="-2857500"/>
            <a:ext cx="7239000" cy="7239000"/>
          </a:xfrm>
          <a:prstGeom prst="rect">
            <a:avLst/>
          </a:prstGeom>
          <a:gradFill rotWithShape="1">
            <a:gsLst>
              <a:gs pos="0">
                <a:srgbClr val="8F63E9">
                  <a:alpha val="13000"/>
                </a:srgbClr>
              </a:gs>
              <a:gs pos="68000">
                <a:srgbClr val="8F63E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90600" y="838200"/>
            <a:ext cx="117348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6E6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VORTEX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524000"/>
            <a:ext cx="1793748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000" b="1" kern="0" spc="-60" dirty="0">
                <a:solidFill>
                  <a:srgbClr val="EC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ARQUITETURA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990600" y="2781300"/>
            <a:ext cx="1793748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8F87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5 CAMADAS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90600" y="3219450"/>
            <a:ext cx="16306800" cy="830580"/>
          </a:xfrm>
          <a:prstGeom prst="rect">
            <a:avLst/>
          </a:prstGeom>
          <a:ln w="7620">
            <a:solidFill>
              <a:srgbClr val="A98BFF">
                <a:alpha val="3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3970" y="3455670"/>
            <a:ext cx="103632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C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Domain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2434590" y="3455670"/>
            <a:ext cx="222885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2771775" y="3455670"/>
            <a:ext cx="176022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C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Repository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4562475" y="3455670"/>
            <a:ext cx="222885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899660" y="3455670"/>
            <a:ext cx="1936242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C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Application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850380" y="3455670"/>
            <a:ext cx="222885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187565" y="3455670"/>
            <a:ext cx="1408176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C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8658225" y="3455670"/>
            <a:ext cx="222885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8995410" y="3455670"/>
            <a:ext cx="55626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C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990600" y="5184934"/>
            <a:ext cx="16306800" cy="9525"/>
          </a:xfrm>
          <a:prstGeom prst="rect">
            <a:avLst/>
          </a:prstGeom>
          <a:solidFill>
            <a:srgbClr val="A98BFF">
              <a:alpha val="1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990600" y="4625340"/>
            <a:ext cx="3038475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4133850" y="4602480"/>
            <a:ext cx="3045809" cy="411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175" dirty="0">
                <a:solidFill>
                  <a:srgbClr val="D9D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.NET 9 / ASP.NET Core</a:t>
            </a:r>
            <a:endParaRPr lang="en-US" sz="2175" dirty="0"/>
          </a:p>
        </p:txBody>
      </p:sp>
      <p:sp>
        <p:nvSpPr>
          <p:cNvPr id="20" name="Shape 18"/>
          <p:cNvSpPr/>
          <p:nvPr/>
        </p:nvSpPr>
        <p:spPr>
          <a:xfrm>
            <a:off x="990600" y="5984558"/>
            <a:ext cx="16306800" cy="9525"/>
          </a:xfrm>
          <a:prstGeom prst="rect">
            <a:avLst/>
          </a:prstGeom>
          <a:solidFill>
            <a:srgbClr val="A98BFF">
              <a:alpha val="1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990600" y="5424964"/>
            <a:ext cx="3038475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Banco de dados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4133850" y="5402104"/>
            <a:ext cx="11285185" cy="411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175" dirty="0">
                <a:solidFill>
                  <a:srgbClr val="D9D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Server · Entity Framework Core 9 — Views, Stored Procedures e Functions</a:t>
            </a:r>
            <a:endParaRPr lang="en-US" sz="2175" dirty="0"/>
          </a:p>
        </p:txBody>
      </p:sp>
      <p:sp>
        <p:nvSpPr>
          <p:cNvPr id="23" name="Shape 21"/>
          <p:cNvSpPr/>
          <p:nvPr/>
        </p:nvSpPr>
        <p:spPr>
          <a:xfrm>
            <a:off x="990600" y="6784182"/>
            <a:ext cx="16306800" cy="9525"/>
          </a:xfrm>
          <a:prstGeom prst="rect">
            <a:avLst/>
          </a:prstGeom>
          <a:solidFill>
            <a:srgbClr val="A98BFF">
              <a:alpha val="14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990600" y="6224588"/>
            <a:ext cx="3038475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4133850" y="6201728"/>
            <a:ext cx="6656094" cy="411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175" dirty="0">
                <a:solidFill>
                  <a:srgbClr val="D9D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· React Router DOM v7 · CSS Modules</a:t>
            </a:r>
            <a:endParaRPr lang="en-US" sz="2175" dirty="0"/>
          </a:p>
        </p:txBody>
      </p:sp>
      <p:sp>
        <p:nvSpPr>
          <p:cNvPr id="26" name="Shape 24"/>
          <p:cNvSpPr/>
          <p:nvPr/>
        </p:nvSpPr>
        <p:spPr>
          <a:xfrm>
            <a:off x="990600" y="7583805"/>
            <a:ext cx="16306800" cy="9525"/>
          </a:xfrm>
          <a:prstGeom prst="rect">
            <a:avLst/>
          </a:prstGeom>
          <a:solidFill>
            <a:srgbClr val="A98BFF">
              <a:alpha val="14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990600" y="7024211"/>
            <a:ext cx="3038475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Autenticação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4133850" y="7001351"/>
            <a:ext cx="7492198" cy="411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175" dirty="0">
                <a:solidFill>
                  <a:srgbClr val="D9D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Bearer (token de 8 horas) · senhas com BCrypt</a:t>
            </a:r>
            <a:endParaRPr lang="en-US" sz="2175" dirty="0"/>
          </a:p>
        </p:txBody>
      </p:sp>
      <p:sp>
        <p:nvSpPr>
          <p:cNvPr id="29" name="Text 27"/>
          <p:cNvSpPr/>
          <p:nvPr/>
        </p:nvSpPr>
        <p:spPr>
          <a:xfrm>
            <a:off x="990600" y="7823835"/>
            <a:ext cx="3038475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4133850" y="7800975"/>
            <a:ext cx="5292578" cy="411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175" dirty="0">
                <a:solidFill>
                  <a:srgbClr val="D9D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Models API — modelo GPT-4.1</a:t>
            </a:r>
            <a:endParaRPr lang="en-US" sz="21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8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95500" y="-2857500"/>
            <a:ext cx="7239000" cy="7239000"/>
          </a:xfrm>
          <a:prstGeom prst="rect">
            <a:avLst/>
          </a:prstGeom>
          <a:gradFill rotWithShape="1">
            <a:gsLst>
              <a:gs pos="0">
                <a:srgbClr val="8F63E9">
                  <a:alpha val="13000"/>
                </a:srgbClr>
              </a:gs>
              <a:gs pos="68000">
                <a:srgbClr val="8F63E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90600" y="838200"/>
            <a:ext cx="117348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6E6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VORTEX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524000"/>
            <a:ext cx="1793748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000" b="1" kern="0" spc="-60" dirty="0">
                <a:solidFill>
                  <a:srgbClr val="EC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</a:t>
            </a:r>
            <a:endParaRPr lang="en-US" sz="6000" dirty="0"/>
          </a:p>
        </p:txBody>
      </p:sp>
      <p:pic>
        <p:nvPicPr>
          <p:cNvPr id="7" name="Imagem 6" descr="Diagrama, Esquemático&#10;&#10;O conteúdo gerado por IA pode estar incorreto.">
            <a:extLst>
              <a:ext uri="{FF2B5EF4-FFF2-40B4-BE49-F238E27FC236}">
                <a16:creationId xmlns:a16="http://schemas.microsoft.com/office/drawing/2014/main" id="{B7DFB15C-8A0A-4A16-AD8F-4871DC18BC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3573" y="2327216"/>
            <a:ext cx="10600003" cy="7368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7893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8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5905500"/>
            <a:ext cx="7429500" cy="7429500"/>
          </a:xfrm>
          <a:prstGeom prst="rect">
            <a:avLst/>
          </a:prstGeom>
          <a:gradFill rotWithShape="1">
            <a:gsLst>
              <a:gs pos="0">
                <a:srgbClr val="8F63E9">
                  <a:alpha val="13000"/>
                </a:srgbClr>
              </a:gs>
              <a:gs pos="68000">
                <a:srgbClr val="8F63E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90600" y="838200"/>
            <a:ext cx="117348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6E6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VORTEX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524000"/>
            <a:ext cx="1793748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000" b="1" kern="0" spc="-60" dirty="0">
                <a:solidFill>
                  <a:srgbClr val="EC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FUNCIONALIDADES</a:t>
            </a:r>
            <a:endParaRPr lang="en-US" sz="6000" dirty="0"/>
          </a:p>
        </p:txBody>
      </p:sp>
      <p:sp>
        <p:nvSpPr>
          <p:cNvPr id="6" name="Shape 4"/>
          <p:cNvSpPr/>
          <p:nvPr/>
        </p:nvSpPr>
        <p:spPr>
          <a:xfrm>
            <a:off x="990600" y="2819400"/>
            <a:ext cx="16306800" cy="9525"/>
          </a:xfrm>
          <a:prstGeom prst="rect">
            <a:avLst/>
          </a:prstGeom>
          <a:solidFill>
            <a:srgbClr val="A98BFF">
              <a:alpha val="1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90600" y="5029200"/>
            <a:ext cx="8153400" cy="9525"/>
          </a:xfrm>
          <a:prstGeom prst="rect">
            <a:avLst/>
          </a:prstGeom>
          <a:solidFill>
            <a:srgbClr val="A98BFF">
              <a:alpha val="1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136380" y="2827020"/>
            <a:ext cx="9525" cy="2209800"/>
          </a:xfrm>
          <a:prstGeom prst="rect">
            <a:avLst/>
          </a:prstGeom>
          <a:solidFill>
            <a:srgbClr val="A98BFF">
              <a:alpha val="1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90600" y="3112770"/>
            <a:ext cx="373380" cy="1668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516380" y="3112770"/>
            <a:ext cx="491001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C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 completo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516380" y="3531870"/>
            <a:ext cx="4910018" cy="372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9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Clientes, Produtos, Usuários e Vendas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144000" y="5029200"/>
            <a:ext cx="8153400" cy="9525"/>
          </a:xfrm>
          <a:prstGeom prst="rect">
            <a:avLst/>
          </a:prstGeom>
          <a:solidFill>
            <a:srgbClr val="A98BFF">
              <a:alpha val="1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563100" y="3112770"/>
            <a:ext cx="373380" cy="1668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088881" y="3112770"/>
            <a:ext cx="283337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C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Listagem paginada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0088881" y="3531870"/>
            <a:ext cx="2833378" cy="372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9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Filtros server-side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90600" y="7239000"/>
            <a:ext cx="8153400" cy="9525"/>
          </a:xfrm>
          <a:prstGeom prst="rect">
            <a:avLst/>
          </a:prstGeom>
          <a:solidFill>
            <a:srgbClr val="A98BFF">
              <a:alpha val="14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9136380" y="5036820"/>
            <a:ext cx="9525" cy="2209800"/>
          </a:xfrm>
          <a:prstGeom prst="rect">
            <a:avLst/>
          </a:prstGeom>
          <a:solidFill>
            <a:srgbClr val="A98BFF">
              <a:alpha val="1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990600" y="5322570"/>
            <a:ext cx="373380" cy="1668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516380" y="5322570"/>
            <a:ext cx="375251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C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Controle de estoque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516380" y="5741670"/>
            <a:ext cx="3752517" cy="372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9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Estoque mínimo por produto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9144000" y="7239000"/>
            <a:ext cx="8153400" cy="9525"/>
          </a:xfrm>
          <a:prstGeom prst="rect">
            <a:avLst/>
          </a:prstGeom>
          <a:solidFill>
            <a:srgbClr val="A98BFF">
              <a:alpha val="1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9563100" y="5322570"/>
            <a:ext cx="373380" cy="1668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0088881" y="5322570"/>
            <a:ext cx="514812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C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de vendas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0088881" y="5741670"/>
            <a:ext cx="5148120" cy="372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9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Múltiplos itens e formas de pagamento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9136380" y="7246620"/>
            <a:ext cx="9525" cy="2202180"/>
          </a:xfrm>
          <a:prstGeom prst="rect">
            <a:avLst/>
          </a:prstGeom>
          <a:solidFill>
            <a:srgbClr val="A98BFF">
              <a:alpha val="1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990600" y="7532370"/>
            <a:ext cx="373380" cy="1668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1516380" y="7532370"/>
            <a:ext cx="495336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C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Relatórios SQL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516380" y="7951470"/>
            <a:ext cx="4953369" cy="372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9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Views, Stored Procedures e Functions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9563100" y="7532370"/>
            <a:ext cx="373380" cy="1668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10088881" y="7532370"/>
            <a:ext cx="537639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C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com IA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10088881" y="7951470"/>
            <a:ext cx="5376398" cy="372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9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Recomendações de estoque generativas</a:t>
            </a:r>
            <a:endParaRPr lang="en-US" sz="1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8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763500" y="-2857500"/>
            <a:ext cx="7810500" cy="7810500"/>
          </a:xfrm>
          <a:prstGeom prst="rect">
            <a:avLst/>
          </a:prstGeom>
          <a:gradFill rotWithShape="1">
            <a:gsLst>
              <a:gs pos="0">
                <a:srgbClr val="D67BD0">
                  <a:alpha val="14000"/>
                </a:srgbClr>
              </a:gs>
              <a:gs pos="68000">
                <a:srgbClr val="D67BD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90600" y="838200"/>
            <a:ext cx="117348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6E6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VORTEX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524000"/>
            <a:ext cx="1793748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000" b="1" kern="0" spc="-60" dirty="0">
                <a:solidFill>
                  <a:srgbClr val="EC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RELATÓRIOS &amp; IA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990600" y="2800350"/>
            <a:ext cx="122377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8F87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OBJETOS SQL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90600" y="4259580"/>
            <a:ext cx="11125200" cy="9525"/>
          </a:xfrm>
          <a:prstGeom prst="rect">
            <a:avLst/>
          </a:prstGeom>
          <a:solidFill>
            <a:srgbClr val="A98BFF">
              <a:alpha val="14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90600" y="3371850"/>
            <a:ext cx="12237720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vw_ResumoVendas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990600" y="3764280"/>
            <a:ext cx="122377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9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Totais, ticket médio, concluídas / canceladas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90600" y="5345430"/>
            <a:ext cx="11125200" cy="9525"/>
          </a:xfrm>
          <a:prstGeom prst="rect">
            <a:avLst/>
          </a:prstGeom>
          <a:solidFill>
            <a:srgbClr val="A98BFF">
              <a:alpha val="1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990600" y="4457700"/>
            <a:ext cx="12237720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vw_ProdutosAbaixoMinimo</a:t>
            </a:r>
            <a:endParaRPr lang="en-US" sz="2025" dirty="0"/>
          </a:p>
        </p:txBody>
      </p:sp>
      <p:sp>
        <p:nvSpPr>
          <p:cNvPr id="12" name="Text 10"/>
          <p:cNvSpPr/>
          <p:nvPr/>
        </p:nvSpPr>
        <p:spPr>
          <a:xfrm>
            <a:off x="990600" y="4850130"/>
            <a:ext cx="122377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9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Estoque </a:t>
            </a:r>
            <a:r>
              <a:rPr lang="en-US" sz="1875" dirty="0" err="1">
                <a:solidFill>
                  <a:srgbClr val="9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crítico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990600" y="6431280"/>
            <a:ext cx="11125200" cy="9525"/>
          </a:xfrm>
          <a:prstGeom prst="rect">
            <a:avLst/>
          </a:prstGeom>
          <a:solidFill>
            <a:srgbClr val="A98BFF">
              <a:alpha val="1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990600" y="5543550"/>
            <a:ext cx="12237720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vw_VendasPorFormaPagamento</a:t>
            </a:r>
            <a:endParaRPr lang="en-US" sz="2025" dirty="0"/>
          </a:p>
        </p:txBody>
      </p:sp>
      <p:sp>
        <p:nvSpPr>
          <p:cNvPr id="15" name="Text 13"/>
          <p:cNvSpPr/>
          <p:nvPr/>
        </p:nvSpPr>
        <p:spPr>
          <a:xfrm>
            <a:off x="990600" y="5935980"/>
            <a:ext cx="122377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9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Distribuição por forma de pagamento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990600" y="7517130"/>
            <a:ext cx="11125200" cy="9525"/>
          </a:xfrm>
          <a:prstGeom prst="rect">
            <a:avLst/>
          </a:prstGeom>
          <a:solidFill>
            <a:srgbClr val="A98BFF">
              <a:alpha val="1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990600" y="6629400"/>
            <a:ext cx="12237720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sp_ProdutosMaisVendidos</a:t>
            </a:r>
            <a:endParaRPr lang="en-US" sz="2025" dirty="0"/>
          </a:p>
        </p:txBody>
      </p:sp>
      <p:sp>
        <p:nvSpPr>
          <p:cNvPr id="18" name="Text 16"/>
          <p:cNvSpPr/>
          <p:nvPr/>
        </p:nvSpPr>
        <p:spPr>
          <a:xfrm>
            <a:off x="990600" y="7021830"/>
            <a:ext cx="122377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9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Ranking dos top 10 produtos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990600" y="7715250"/>
            <a:ext cx="12237720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fn_TotalVendasCliente</a:t>
            </a:r>
            <a:endParaRPr lang="en-US" sz="2025" dirty="0"/>
          </a:p>
        </p:txBody>
      </p:sp>
      <p:sp>
        <p:nvSpPr>
          <p:cNvPr id="20" name="Text 18"/>
          <p:cNvSpPr/>
          <p:nvPr/>
        </p:nvSpPr>
        <p:spPr>
          <a:xfrm>
            <a:off x="990600" y="8107680"/>
            <a:ext cx="122377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9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faturado por cliente</a:t>
            </a:r>
            <a:endParaRPr lang="en-US" sz="1875" dirty="0"/>
          </a:p>
        </p:txBody>
      </p:sp>
      <p:sp>
        <p:nvSpPr>
          <p:cNvPr id="21" name="Shape 19"/>
          <p:cNvSpPr/>
          <p:nvPr/>
        </p:nvSpPr>
        <p:spPr>
          <a:xfrm>
            <a:off x="12725400" y="2800350"/>
            <a:ext cx="9525" cy="6648450"/>
          </a:xfrm>
          <a:prstGeom prst="rect">
            <a:avLst/>
          </a:prstGeom>
          <a:solidFill>
            <a:srgbClr val="A98BFF">
              <a:alpha val="22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3228320" y="4708327"/>
            <a:ext cx="447598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IA GENERATIVA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228320" y="5241727"/>
            <a:ext cx="4191153" cy="23371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2550" dirty="0">
                <a:solidFill>
                  <a:srgbClr val="EC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IA analisa esses dados </a:t>
            </a:r>
            <a:r>
              <a:rPr lang="en-US" sz="2550" dirty="0">
                <a:solidFill>
                  <a:srgbClr val="A98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tempo real </a:t>
            </a:r>
            <a:r>
              <a:rPr lang="en-US" sz="2550" dirty="0">
                <a:solidFill>
                  <a:srgbClr val="EC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gera </a:t>
            </a:r>
            <a:r>
              <a:rPr lang="en-US" sz="2550" dirty="0">
                <a:solidFill>
                  <a:srgbClr val="A98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 e recomendações </a:t>
            </a:r>
            <a:r>
              <a:rPr lang="en-US" sz="2550" dirty="0">
                <a:solidFill>
                  <a:srgbClr val="EC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linguagem natural.</a:t>
            </a:r>
            <a:endParaRPr lang="en-US" sz="2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8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763500" y="5810250"/>
            <a:ext cx="7620000" cy="7620000"/>
          </a:xfrm>
          <a:prstGeom prst="rect">
            <a:avLst/>
          </a:prstGeom>
          <a:gradFill rotWithShape="1">
            <a:gsLst>
              <a:gs pos="0">
                <a:srgbClr val="8F63E9">
                  <a:alpha val="15000"/>
                </a:srgbClr>
              </a:gs>
              <a:gs pos="68000">
                <a:srgbClr val="8F63E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90600" y="838200"/>
            <a:ext cx="117348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6E6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VORTEX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524000"/>
            <a:ext cx="1793748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000" b="1" kern="0" spc="-60" dirty="0">
                <a:solidFill>
                  <a:srgbClr val="EC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</a:t>
            </a:r>
            <a:endParaRPr lang="en-US" sz="6000" dirty="0"/>
          </a:p>
        </p:txBody>
      </p:sp>
      <p:sp>
        <p:nvSpPr>
          <p:cNvPr id="6" name="Shape 4"/>
          <p:cNvSpPr/>
          <p:nvPr/>
        </p:nvSpPr>
        <p:spPr>
          <a:xfrm>
            <a:off x="990600" y="4544139"/>
            <a:ext cx="16306800" cy="9525"/>
          </a:xfrm>
          <a:prstGeom prst="rect">
            <a:avLst/>
          </a:prstGeom>
          <a:solidFill>
            <a:srgbClr val="A98BFF">
              <a:alpha val="14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3904536"/>
            <a:ext cx="4191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676400" y="3881676"/>
            <a:ext cx="11026652" cy="452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475" dirty="0">
                <a:solidFill>
                  <a:srgbClr val="E4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completo e funcional, com todas as entidades integradas</a:t>
            </a:r>
            <a:endParaRPr lang="en-US" sz="2475" dirty="0"/>
          </a:p>
        </p:txBody>
      </p:sp>
      <p:sp>
        <p:nvSpPr>
          <p:cNvPr id="9" name="Shape 7"/>
          <p:cNvSpPr/>
          <p:nvPr/>
        </p:nvSpPr>
        <p:spPr>
          <a:xfrm>
            <a:off x="990600" y="5461873"/>
            <a:ext cx="16306800" cy="9525"/>
          </a:xfrm>
          <a:prstGeom prst="rect">
            <a:avLst/>
          </a:prstGeom>
          <a:solidFill>
            <a:srgbClr val="A98BFF">
              <a:alpha val="1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90600" y="4822269"/>
            <a:ext cx="4191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676400" y="4799409"/>
            <a:ext cx="8202442" cy="452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475" dirty="0">
                <a:solidFill>
                  <a:srgbClr val="E4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RESTful documentada com autenticação JWT</a:t>
            </a:r>
            <a:endParaRPr lang="en-US" sz="2475" dirty="0"/>
          </a:p>
        </p:txBody>
      </p:sp>
      <p:sp>
        <p:nvSpPr>
          <p:cNvPr id="15" name="Shape 13"/>
          <p:cNvSpPr/>
          <p:nvPr/>
        </p:nvSpPr>
        <p:spPr>
          <a:xfrm>
            <a:off x="990600" y="6395818"/>
            <a:ext cx="16306800" cy="9525"/>
          </a:xfrm>
          <a:prstGeom prst="rect">
            <a:avLst/>
          </a:prstGeom>
          <a:solidFill>
            <a:srgbClr val="A98BFF">
              <a:alpha val="1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990600" y="5756214"/>
            <a:ext cx="4191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1676400" y="5733354"/>
            <a:ext cx="9875437" cy="452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475" dirty="0">
                <a:solidFill>
                  <a:srgbClr val="E4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Integração com IA Generativa usando dados reais do banco</a:t>
            </a:r>
            <a:endParaRPr lang="en-US" sz="2475" dirty="0"/>
          </a:p>
        </p:txBody>
      </p:sp>
      <p:sp>
        <p:nvSpPr>
          <p:cNvPr id="18" name="Text 16"/>
          <p:cNvSpPr/>
          <p:nvPr/>
        </p:nvSpPr>
        <p:spPr>
          <a:xfrm>
            <a:off x="990600" y="6673948"/>
            <a:ext cx="4191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676400" y="6651088"/>
            <a:ext cx="12721650" cy="452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475" dirty="0">
                <a:solidFill>
                  <a:srgbClr val="E4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Arquitetura limpa, com separação clara de responsabilidades entre camadas</a:t>
            </a:r>
            <a:endParaRPr lang="en-US" sz="24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8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3238500"/>
            <a:ext cx="8382000" cy="8382000"/>
          </a:xfrm>
          <a:prstGeom prst="rect">
            <a:avLst/>
          </a:prstGeom>
          <a:gradFill rotWithShape="1">
            <a:gsLst>
              <a:gs pos="0">
                <a:srgbClr val="8F63E9">
                  <a:alpha val="18000"/>
                </a:srgbClr>
              </a:gs>
              <a:gs pos="66000">
                <a:srgbClr val="8F63E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90600" y="838200"/>
            <a:ext cx="117348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6E6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VORTEX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524000"/>
            <a:ext cx="1793748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000" b="1" kern="0" spc="-60" dirty="0">
                <a:solidFill>
                  <a:srgbClr val="EC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PASSOS</a:t>
            </a:r>
            <a:endParaRPr lang="en-US" sz="6000" dirty="0"/>
          </a:p>
        </p:txBody>
      </p:sp>
      <p:sp>
        <p:nvSpPr>
          <p:cNvPr id="6" name="Shape 4"/>
          <p:cNvSpPr/>
          <p:nvPr/>
        </p:nvSpPr>
        <p:spPr>
          <a:xfrm>
            <a:off x="990600" y="4465320"/>
            <a:ext cx="16306800" cy="9525"/>
          </a:xfrm>
          <a:prstGeom prst="rect">
            <a:avLst/>
          </a:prstGeom>
          <a:solidFill>
            <a:srgbClr val="A98BFF">
              <a:alpha val="1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90600" y="3901440"/>
            <a:ext cx="266700" cy="266700"/>
          </a:xfrm>
          <a:prstGeom prst="rect">
            <a:avLst/>
          </a:prstGeom>
          <a:ln w="15240">
            <a:solidFill>
              <a:srgbClr val="A98B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24000" y="3832860"/>
            <a:ext cx="5027628" cy="441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75" dirty="0">
                <a:solidFill>
                  <a:srgbClr val="E4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Relatórios exportáveis em PDF</a:t>
            </a:r>
            <a:endParaRPr lang="en-US" sz="2475" dirty="0"/>
          </a:p>
        </p:txBody>
      </p:sp>
      <p:sp>
        <p:nvSpPr>
          <p:cNvPr id="9" name="Shape 7"/>
          <p:cNvSpPr/>
          <p:nvPr/>
        </p:nvSpPr>
        <p:spPr>
          <a:xfrm>
            <a:off x="990600" y="5410200"/>
            <a:ext cx="16306800" cy="9525"/>
          </a:xfrm>
          <a:prstGeom prst="rect">
            <a:avLst/>
          </a:prstGeom>
          <a:solidFill>
            <a:srgbClr val="A98BFF">
              <a:alpha val="1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90600" y="4846320"/>
            <a:ext cx="266700" cy="266700"/>
          </a:xfrm>
          <a:prstGeom prst="rect">
            <a:avLst/>
          </a:prstGeom>
          <a:ln w="15240">
            <a:solidFill>
              <a:srgbClr val="A98B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24000" y="4777740"/>
            <a:ext cx="6717649" cy="441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75" dirty="0">
                <a:solidFill>
                  <a:srgbClr val="E4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com gráficos visuais (charts)</a:t>
            </a:r>
            <a:endParaRPr lang="en-US" sz="2475" dirty="0"/>
          </a:p>
        </p:txBody>
      </p:sp>
      <p:sp>
        <p:nvSpPr>
          <p:cNvPr id="12" name="Shape 10"/>
          <p:cNvSpPr/>
          <p:nvPr/>
        </p:nvSpPr>
        <p:spPr>
          <a:xfrm>
            <a:off x="990600" y="6355080"/>
            <a:ext cx="16306800" cy="9525"/>
          </a:xfrm>
          <a:prstGeom prst="rect">
            <a:avLst/>
          </a:prstGeom>
          <a:solidFill>
            <a:srgbClr val="A98BFF">
              <a:alpha val="1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90600" y="5791200"/>
            <a:ext cx="266700" cy="266700"/>
          </a:xfrm>
          <a:prstGeom prst="rect">
            <a:avLst/>
          </a:prstGeom>
          <a:ln w="15240">
            <a:solidFill>
              <a:srgbClr val="A98B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24000" y="5722620"/>
            <a:ext cx="7462993" cy="441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75" dirty="0">
                <a:solidFill>
                  <a:srgbClr val="E4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Notificações automáticas de estoque crítico</a:t>
            </a:r>
            <a:endParaRPr lang="en-US" sz="2475" dirty="0"/>
          </a:p>
        </p:txBody>
      </p:sp>
      <p:sp>
        <p:nvSpPr>
          <p:cNvPr id="15" name="Shape 13"/>
          <p:cNvSpPr/>
          <p:nvPr/>
        </p:nvSpPr>
        <p:spPr>
          <a:xfrm>
            <a:off x="990600" y="7299960"/>
            <a:ext cx="16306800" cy="9525"/>
          </a:xfrm>
          <a:prstGeom prst="rect">
            <a:avLst/>
          </a:prstGeom>
          <a:solidFill>
            <a:srgbClr val="A98BFF">
              <a:alpha val="14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90600" y="6736080"/>
            <a:ext cx="266700" cy="266700"/>
          </a:xfrm>
          <a:prstGeom prst="rect">
            <a:avLst/>
          </a:prstGeom>
          <a:ln w="15240">
            <a:solidFill>
              <a:srgbClr val="A98B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24000" y="6667500"/>
            <a:ext cx="7680662" cy="441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75" dirty="0">
                <a:solidFill>
                  <a:srgbClr val="E4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Histórico de alterações por usuário (auditoria)</a:t>
            </a:r>
            <a:endParaRPr lang="en-US" sz="2475" dirty="0"/>
          </a:p>
        </p:txBody>
      </p:sp>
      <p:sp>
        <p:nvSpPr>
          <p:cNvPr id="18" name="Shape 16"/>
          <p:cNvSpPr/>
          <p:nvPr/>
        </p:nvSpPr>
        <p:spPr>
          <a:xfrm>
            <a:off x="990600" y="7680960"/>
            <a:ext cx="266700" cy="266700"/>
          </a:xfrm>
          <a:prstGeom prst="rect">
            <a:avLst/>
          </a:prstGeom>
          <a:ln w="15240">
            <a:solidFill>
              <a:srgbClr val="A98B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524000" y="7612380"/>
            <a:ext cx="5256693" cy="441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75" dirty="0">
                <a:solidFill>
                  <a:srgbClr val="E4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em nuvem (Azure / AWS)</a:t>
            </a:r>
            <a:endParaRPr lang="en-US" sz="24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549</Words>
  <Application>Microsoft Office PowerPoint</Application>
  <PresentationFormat>Personalizar</PresentationFormat>
  <Paragraphs>102</Paragraphs>
  <Slides>8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Nickolas Passos Homem de Mello</cp:lastModifiedBy>
  <cp:revision>6</cp:revision>
  <dcterms:created xsi:type="dcterms:W3CDTF">2026-06-18T20:36:45Z</dcterms:created>
  <dcterms:modified xsi:type="dcterms:W3CDTF">2026-06-18T23:59:39Z</dcterms:modified>
</cp:coreProperties>
</file>